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B32090-BEA4-0F40-7A11-EFA69056C6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756DC30-BAC7-97DA-5E45-6F194AA82C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C81949F-56F6-8EE7-A476-FE517825F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6BDD3-2167-44B5-8156-E926CA5B89AE}" type="datetimeFigureOut">
              <a:rPr lang="de-DE" smtClean="0"/>
              <a:t>20.04.2026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A3CDB70-8AAF-62B3-FE74-7C90486B6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C774A74-F3E1-8550-E1F3-560949BE3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49293-56CD-4AC6-BC4C-3BACDEEAEFE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13883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8DD770-B30E-FF8A-EB7B-99D8CB870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3B63A45-60C3-241C-B115-C0D6D7F20D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2F8D812-D0C8-A340-ADC1-54C624891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6BDD3-2167-44B5-8156-E926CA5B89AE}" type="datetimeFigureOut">
              <a:rPr lang="de-DE" smtClean="0"/>
              <a:t>20.04.2026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7E1537B-1039-2CAA-2F4F-CC15446A4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EC349F9-FFFC-9FD8-1B3B-F7ED92B83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49293-56CD-4AC6-BC4C-3BACDEEAEFE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2857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E0A583-489A-749D-9C0E-9CE721DB6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A7475A4-95EE-02A7-10B2-D78CFEB27C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B13033E-4576-AF9B-695F-4CEE7CBFE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6BDD3-2167-44B5-8156-E926CA5B89AE}" type="datetimeFigureOut">
              <a:rPr lang="de-DE" smtClean="0"/>
              <a:t>20.04.2026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63B271D-E2D9-8207-6ED6-7695B578D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88E3A1C-9AA2-3377-FA4F-AEEDFF717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49293-56CD-4AC6-BC4C-3BACDEEAEFE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98368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6CCBD5-E915-32F0-4B32-DE05DFF2A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4A8E5DE-F417-8C59-CDD8-F673A18948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FE774C0-3E3E-BB30-F440-1A30B59E74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7F680E6-BB46-662F-31D7-350AC9BA7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6BDD3-2167-44B5-8156-E926CA5B89AE}" type="datetimeFigureOut">
              <a:rPr lang="de-DE" smtClean="0"/>
              <a:t>20.04.2026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737CA80-1B90-97E0-3BF1-98965D029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85FF997-A97E-6F0A-6A7B-5DF54F141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49293-56CD-4AC6-BC4C-3BACDEEAEFE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4649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AD8526-8B7D-67A4-FB59-1A42450BB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4EE95D2-5E26-7E29-22D7-1AA1B9A0B5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32FEB94-4A86-8712-B0AA-AE580E436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792132D-C909-BA8C-662E-E7E51791CD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19AD43F-CFF7-0FE8-55EB-08AF148523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5C3EEE1D-1DAA-C74D-C370-C02F4F525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6BDD3-2167-44B5-8156-E926CA5B89AE}" type="datetimeFigureOut">
              <a:rPr lang="de-DE" smtClean="0"/>
              <a:t>20.04.2026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A3F601A-7591-23E7-9A97-21E48181A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98287CC-4E93-3A56-2E46-3F07056FF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49293-56CD-4AC6-BC4C-3BACDEEAEFE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4180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399B5D-9B8B-7B56-05E4-479879C31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6084721-C014-7209-334B-6F8A0C569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6BDD3-2167-44B5-8156-E926CA5B89AE}" type="datetimeFigureOut">
              <a:rPr lang="de-DE" smtClean="0"/>
              <a:t>20.04.2026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4D3DD5F-CE67-DDE4-D2C0-8EF7DA7EC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4B36267-1B73-976F-4079-0EFCD9654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49293-56CD-4AC6-BC4C-3BACDEEAEFE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75962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D62A25C-063E-7FC1-F0E8-A53A20913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6BDD3-2167-44B5-8156-E926CA5B89AE}" type="datetimeFigureOut">
              <a:rPr lang="de-DE" smtClean="0"/>
              <a:t>20.04.2026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ED28483-747D-1296-3649-9262E818D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5089F16-90F4-0B81-BCCD-D5A5C097D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49293-56CD-4AC6-BC4C-3BACDEEAEFE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15838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F1D92F-28A8-F1C2-E108-564559FAF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83D3F47-492D-CAE0-2257-D617582C56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753BA96-67F4-58AD-DF92-755BEF9368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72FCEED-3403-B369-C286-256EC093C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6BDD3-2167-44B5-8156-E926CA5B89AE}" type="datetimeFigureOut">
              <a:rPr lang="de-DE" smtClean="0"/>
              <a:t>20.04.2026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6DA6C08-8D83-2A89-E335-F7E18391E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F532F04-FB0A-ACAA-61C4-B7EA974DD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49293-56CD-4AC6-BC4C-3BACDEEAEFE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26456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C16A4C-E457-241E-6ED0-73CAD5C85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450F4CFB-F259-FC5A-803C-2E2EB274ED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3A34B54-BB6A-5241-E689-1216F59E06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CA1951B-C34C-C337-620D-CDA2ADA7C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6BDD3-2167-44B5-8156-E926CA5B89AE}" type="datetimeFigureOut">
              <a:rPr lang="de-DE" smtClean="0"/>
              <a:t>20.04.2026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612F3F7-755C-320A-D202-BE9D659FE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DB43F33-7FA9-2FEA-6F68-62F9BAEB1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49293-56CD-4AC6-BC4C-3BACDEEAEFE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5181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E25C44-C3C4-509E-7CC2-BD3761347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A2F8EE4-6C98-16D1-45CA-7DA47146FE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9D45733-F8BA-4331-65EE-6DC37043D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6BDD3-2167-44B5-8156-E926CA5B89AE}" type="datetimeFigureOut">
              <a:rPr lang="de-DE" smtClean="0"/>
              <a:t>20.04.2026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2B86975-9D67-8A08-E89E-C975AD069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E399C49-8348-2B90-EE49-44DCB15D1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49293-56CD-4AC6-BC4C-3BACDEEAEFE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71523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C0C741F4-C166-2B37-B14C-297DF6F017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BFC43D1-CABD-457E-B969-8FCA5F99B5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EB11443-DCF9-0D3B-6CC1-A63E7A386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6BDD3-2167-44B5-8156-E926CA5B89AE}" type="datetimeFigureOut">
              <a:rPr lang="de-DE" smtClean="0"/>
              <a:t>20.04.2026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599F918-7D1D-825D-3612-880E6ED9B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5000E35-63A7-80BA-DCE6-31A3511EE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49293-56CD-4AC6-BC4C-3BACDEEAEFE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21794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86812055-1074-4125-0F95-F9496AFE4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04CD9CF-E193-4C98-DAAD-29B51AC57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630223A-16A4-B377-4079-E670FDBDF7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F6BDD3-2167-44B5-8156-E926CA5B89AE}" type="datetimeFigureOut">
              <a:rPr lang="de-DE" smtClean="0"/>
              <a:t>20.04.2026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275A8DB-3122-A77F-9AB5-874A72B282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5EFE3A0-7B24-77AE-4798-862298B68F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249293-56CD-4AC6-BC4C-3BACDEEAEFE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32478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A16BF1-8BDA-EAA5-AC8C-49B85D941E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Aerosol Cloud Interactions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D82E3E2-44B4-D854-BE2A-3EC2C04D9F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Ardit, Yuki, Konstantin</a:t>
            </a:r>
          </a:p>
        </p:txBody>
      </p:sp>
    </p:spTree>
    <p:extLst>
      <p:ext uri="{BB962C8B-B14F-4D97-AF65-F5344CB8AC3E}">
        <p14:creationId xmlns:p14="http://schemas.microsoft.com/office/powerpoint/2010/main" val="36802074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6587A0-11EA-DD41-0B10-2E64DFBBE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6913"/>
          </a:xfrm>
        </p:spPr>
        <p:txBody>
          <a:bodyPr>
            <a:noAutofit/>
          </a:bodyPr>
          <a:lstStyle/>
          <a:p>
            <a:r>
              <a:rPr lang="de-DE" sz="2800" dirty="0" err="1"/>
              <a:t>Driving</a:t>
            </a:r>
            <a:r>
              <a:rPr lang="de-DE" sz="2800" dirty="0"/>
              <a:t> </a:t>
            </a:r>
            <a:r>
              <a:rPr lang="de-DE" sz="2800" dirty="0" err="1"/>
              <a:t>hypothesis</a:t>
            </a:r>
            <a:r>
              <a:rPr lang="de-DE" sz="2800" dirty="0"/>
              <a:t> </a:t>
            </a:r>
            <a:br>
              <a:rPr lang="de-DE" sz="2800" dirty="0"/>
            </a:br>
            <a:r>
              <a:rPr lang="de-DE" sz="2800" dirty="0"/>
              <a:t>„Aerosols </a:t>
            </a:r>
            <a:r>
              <a:rPr lang="de-DE" sz="2800" dirty="0" err="1"/>
              <a:t>can</a:t>
            </a:r>
            <a:r>
              <a:rPr lang="de-DE" sz="2800" dirty="0"/>
              <a:t> </a:t>
            </a:r>
            <a:r>
              <a:rPr lang="de-DE" sz="2800" dirty="0" err="1"/>
              <a:t>change</a:t>
            </a:r>
            <a:r>
              <a:rPr lang="de-DE" sz="2800" dirty="0"/>
              <a:t> </a:t>
            </a:r>
            <a:r>
              <a:rPr lang="de-DE" sz="2800" dirty="0" err="1"/>
              <a:t>properties</a:t>
            </a:r>
            <a:r>
              <a:rPr lang="de-DE" sz="2800" dirty="0"/>
              <a:t> </a:t>
            </a:r>
            <a:r>
              <a:rPr lang="de-DE" sz="2800" dirty="0" err="1"/>
              <a:t>of</a:t>
            </a:r>
            <a:r>
              <a:rPr lang="de-DE" sz="2800" dirty="0"/>
              <a:t> </a:t>
            </a:r>
            <a:r>
              <a:rPr lang="de-DE" sz="2800" dirty="0" err="1"/>
              <a:t>low</a:t>
            </a:r>
            <a:r>
              <a:rPr lang="de-DE" sz="2800" dirty="0"/>
              <a:t>-level </a:t>
            </a:r>
            <a:r>
              <a:rPr lang="de-DE" sz="2800" dirty="0" err="1"/>
              <a:t>clouds</a:t>
            </a:r>
            <a:r>
              <a:rPr lang="de-DE" sz="2800" dirty="0"/>
              <a:t>“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6ECC329-3062-BA23-46B7-3057808169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9885" y="4566151"/>
            <a:ext cx="3905451" cy="204480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5A7301CE-A073-56FB-5209-C373FC83E5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782" y="1425133"/>
            <a:ext cx="3333921" cy="1886047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707B6C9E-0CB6-D494-4CCC-2B72353AEC1A}"/>
              </a:ext>
            </a:extLst>
          </p:cNvPr>
          <p:cNvSpPr txBox="1"/>
          <p:nvPr/>
        </p:nvSpPr>
        <p:spPr>
          <a:xfrm>
            <a:off x="544523" y="2538728"/>
            <a:ext cx="19029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Wildfire</a:t>
            </a:r>
            <a:r>
              <a:rPr lang="de-DE" dirty="0"/>
              <a:t> smoke-</a:t>
            </a:r>
            <a:r>
              <a:rPr lang="de-DE" dirty="0" err="1"/>
              <a:t>polluted</a:t>
            </a:r>
            <a:r>
              <a:rPr lang="de-DE" dirty="0"/>
              <a:t> </a:t>
            </a:r>
            <a:r>
              <a:rPr lang="de-DE" dirty="0" err="1"/>
              <a:t>clouds</a:t>
            </a:r>
            <a:endParaRPr lang="de-DE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7E568DEF-82D2-8EF2-0FFE-EED8BA9BAA62}"/>
              </a:ext>
            </a:extLst>
          </p:cNvPr>
          <p:cNvSpPr txBox="1"/>
          <p:nvPr/>
        </p:nvSpPr>
        <p:spPr>
          <a:xfrm>
            <a:off x="2569764" y="1303122"/>
            <a:ext cx="14572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Non-</a:t>
            </a:r>
            <a:r>
              <a:rPr lang="de-DE" dirty="0" err="1"/>
              <a:t>polluted</a:t>
            </a:r>
            <a:r>
              <a:rPr lang="de-DE" dirty="0"/>
              <a:t> </a:t>
            </a:r>
            <a:r>
              <a:rPr lang="de-DE" dirty="0" err="1"/>
              <a:t>clouds</a:t>
            </a:r>
            <a:endParaRPr lang="de-DE" dirty="0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6B232234-72AE-1189-7DBF-AF44A35BF19D}"/>
              </a:ext>
            </a:extLst>
          </p:cNvPr>
          <p:cNvSpPr txBox="1"/>
          <p:nvPr/>
        </p:nvSpPr>
        <p:spPr>
          <a:xfrm>
            <a:off x="4149307" y="1495309"/>
            <a:ext cx="787591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/>
              <a:t>Cloud </a:t>
            </a:r>
            <a:r>
              <a:rPr lang="de-DE" sz="2400" b="1" dirty="0" err="1"/>
              <a:t>modification</a:t>
            </a:r>
            <a:r>
              <a:rPr lang="de-DE" sz="2400" b="1" dirty="0"/>
              <a:t> </a:t>
            </a:r>
            <a:r>
              <a:rPr lang="de-DE" sz="2400" b="1" dirty="0" err="1"/>
              <a:t>process</a:t>
            </a:r>
            <a:r>
              <a:rPr lang="de-DE" sz="2400" b="1" dirty="0"/>
              <a:t> </a:t>
            </a:r>
            <a:r>
              <a:rPr lang="de-DE" sz="2400" b="1" dirty="0" err="1"/>
              <a:t>by</a:t>
            </a:r>
            <a:r>
              <a:rPr lang="de-DE" sz="2400" b="1" dirty="0"/>
              <a:t> </a:t>
            </a:r>
            <a:r>
              <a:rPr lang="de-DE" sz="2400" b="1" dirty="0" err="1"/>
              <a:t>aerosols</a:t>
            </a:r>
            <a:endParaRPr lang="de-DE" sz="2400" b="1" dirty="0"/>
          </a:p>
          <a:p>
            <a:r>
              <a:rPr lang="de-DE" sz="2400" dirty="0">
                <a:sym typeface="Wingdings" panose="05000000000000000000" pitchFamily="2" charset="2"/>
              </a:rPr>
              <a:t>Smoke (</a:t>
            </a:r>
            <a:r>
              <a:rPr lang="de-DE" sz="2400" dirty="0" err="1">
                <a:sym typeface="Wingdings" panose="05000000000000000000" pitchFamily="2" charset="2"/>
              </a:rPr>
              <a:t>other</a:t>
            </a:r>
            <a:r>
              <a:rPr lang="de-DE" sz="2400" dirty="0">
                <a:sym typeface="Wingdings" panose="05000000000000000000" pitchFamily="2" charset="2"/>
              </a:rPr>
              <a:t> </a:t>
            </a:r>
            <a:r>
              <a:rPr lang="de-DE" sz="2400" dirty="0" err="1">
                <a:sym typeface="Wingdings" panose="05000000000000000000" pitchFamily="2" charset="2"/>
              </a:rPr>
              <a:t>aerosols</a:t>
            </a:r>
            <a:r>
              <a:rPr lang="de-DE" sz="2400" dirty="0">
                <a:sym typeface="Wingdings" panose="05000000000000000000" pitchFamily="2" charset="2"/>
              </a:rPr>
              <a:t>) </a:t>
            </a:r>
            <a:r>
              <a:rPr lang="de-DE" sz="2400" dirty="0" err="1">
                <a:sym typeface="Wingdings" panose="05000000000000000000" pitchFamily="2" charset="2"/>
              </a:rPr>
              <a:t>enter</a:t>
            </a:r>
            <a:r>
              <a:rPr lang="de-DE" sz="2400" dirty="0">
                <a:sym typeface="Wingdings" panose="05000000000000000000" pitchFamily="2" charset="2"/>
              </a:rPr>
              <a:t> </a:t>
            </a:r>
            <a:r>
              <a:rPr lang="de-DE" sz="2400" dirty="0" err="1">
                <a:sym typeface="Wingdings" panose="05000000000000000000" pitchFamily="2" charset="2"/>
              </a:rPr>
              <a:t>cloud</a:t>
            </a:r>
            <a:r>
              <a:rPr lang="de-DE" sz="2400" dirty="0">
                <a:sym typeface="Wingdings" panose="05000000000000000000" pitchFamily="2" charset="2"/>
              </a:rPr>
              <a:t> </a:t>
            </a:r>
          </a:p>
          <a:p>
            <a:r>
              <a:rPr lang="de-DE" sz="2400" dirty="0">
                <a:sym typeface="Wingdings" panose="05000000000000000000" pitchFamily="2" charset="2"/>
              </a:rPr>
              <a:t>	</a:t>
            </a:r>
            <a:r>
              <a:rPr lang="de-DE" sz="2400" dirty="0" err="1">
                <a:sym typeface="Wingdings" panose="05000000000000000000" pitchFamily="2" charset="2"/>
              </a:rPr>
              <a:t>increase</a:t>
            </a:r>
            <a:r>
              <a:rPr lang="de-DE" sz="2400" dirty="0">
                <a:sym typeface="Wingdings" panose="05000000000000000000" pitchFamily="2" charset="2"/>
              </a:rPr>
              <a:t> in </a:t>
            </a:r>
            <a:r>
              <a:rPr lang="de-DE" sz="2400" dirty="0" err="1">
                <a:sym typeface="Wingdings" panose="05000000000000000000" pitchFamily="2" charset="2"/>
              </a:rPr>
              <a:t>cloud</a:t>
            </a:r>
            <a:r>
              <a:rPr lang="de-DE" sz="2400" dirty="0">
                <a:sym typeface="Wingdings" panose="05000000000000000000" pitchFamily="2" charset="2"/>
              </a:rPr>
              <a:t> </a:t>
            </a:r>
            <a:r>
              <a:rPr lang="de-DE" sz="2400" dirty="0" err="1">
                <a:sym typeface="Wingdings" panose="05000000000000000000" pitchFamily="2" charset="2"/>
              </a:rPr>
              <a:t>droplets</a:t>
            </a:r>
            <a:r>
              <a:rPr lang="de-DE" sz="2400" dirty="0">
                <a:sym typeface="Wingdings" panose="05000000000000000000" pitchFamily="2" charset="2"/>
              </a:rPr>
              <a:t> </a:t>
            </a:r>
            <a:r>
              <a:rPr lang="de-DE" sz="2400" dirty="0" err="1">
                <a:sym typeface="Wingdings" panose="05000000000000000000" pitchFamily="2" charset="2"/>
              </a:rPr>
              <a:t>number</a:t>
            </a:r>
            <a:r>
              <a:rPr lang="de-DE" sz="2400" dirty="0">
                <a:sym typeface="Wingdings" panose="05000000000000000000" pitchFamily="2" charset="2"/>
              </a:rPr>
              <a:t> </a:t>
            </a:r>
            <a:r>
              <a:rPr lang="de-DE" sz="2400" dirty="0" err="1">
                <a:sym typeface="Wingdings" panose="05000000000000000000" pitchFamily="2" charset="2"/>
              </a:rPr>
              <a:t>concentration</a:t>
            </a:r>
            <a:r>
              <a:rPr lang="de-DE" sz="2400" dirty="0">
                <a:sym typeface="Wingdings" panose="05000000000000000000" pitchFamily="2" charset="2"/>
              </a:rPr>
              <a:t>		</a:t>
            </a:r>
            <a:r>
              <a:rPr lang="de-DE" sz="2400" dirty="0" err="1">
                <a:sym typeface="Wingdings" panose="05000000000000000000" pitchFamily="2" charset="2"/>
              </a:rPr>
              <a:t>increased</a:t>
            </a:r>
            <a:r>
              <a:rPr lang="de-DE" sz="2400" dirty="0">
                <a:sym typeface="Wingdings" panose="05000000000000000000" pitchFamily="2" charset="2"/>
              </a:rPr>
              <a:t> </a:t>
            </a:r>
            <a:r>
              <a:rPr lang="de-DE" sz="2400" dirty="0" err="1">
                <a:sym typeface="Wingdings" panose="05000000000000000000" pitchFamily="2" charset="2"/>
              </a:rPr>
              <a:t>reflectance</a:t>
            </a:r>
            <a:r>
              <a:rPr lang="de-DE" sz="2400" dirty="0">
                <a:sym typeface="Wingdings" panose="05000000000000000000" pitchFamily="2" charset="2"/>
              </a:rPr>
              <a:t> (</a:t>
            </a:r>
            <a:r>
              <a:rPr lang="de-DE" sz="2400" dirty="0" err="1">
                <a:sym typeface="Wingdings" panose="05000000000000000000" pitchFamily="2" charset="2"/>
              </a:rPr>
              <a:t>Twomey</a:t>
            </a:r>
            <a:r>
              <a:rPr lang="de-DE" sz="2400" dirty="0">
                <a:sym typeface="Wingdings" panose="05000000000000000000" pitchFamily="2" charset="2"/>
              </a:rPr>
              <a:t> </a:t>
            </a:r>
            <a:r>
              <a:rPr lang="de-DE" sz="2400" dirty="0" err="1">
                <a:sym typeface="Wingdings" panose="05000000000000000000" pitchFamily="2" charset="2"/>
              </a:rPr>
              <a:t>effect</a:t>
            </a:r>
            <a:r>
              <a:rPr lang="de-DE" sz="2400" dirty="0">
                <a:sym typeface="Wingdings" panose="05000000000000000000" pitchFamily="2" charset="2"/>
              </a:rPr>
              <a:t>)</a:t>
            </a:r>
          </a:p>
          <a:p>
            <a:r>
              <a:rPr lang="de-DE" sz="2400" dirty="0">
                <a:sym typeface="Wingdings" panose="05000000000000000000" pitchFamily="2" charset="2"/>
              </a:rPr>
              <a:t>		rain </a:t>
            </a:r>
            <a:r>
              <a:rPr lang="de-DE" sz="2400" dirty="0" err="1">
                <a:sym typeface="Wingdings" panose="05000000000000000000" pitchFamily="2" charset="2"/>
              </a:rPr>
              <a:t>suppression</a:t>
            </a:r>
            <a:r>
              <a:rPr lang="de-DE" sz="2400" dirty="0">
                <a:sym typeface="Wingdings" panose="05000000000000000000" pitchFamily="2" charset="2"/>
              </a:rPr>
              <a:t> (Albrecht </a:t>
            </a:r>
            <a:r>
              <a:rPr lang="de-DE" sz="2400" dirty="0" err="1">
                <a:sym typeface="Wingdings" panose="05000000000000000000" pitchFamily="2" charset="2"/>
              </a:rPr>
              <a:t>effect</a:t>
            </a:r>
            <a:r>
              <a:rPr lang="de-DE" sz="2400" dirty="0">
                <a:sym typeface="Wingdings" panose="05000000000000000000" pitchFamily="2" charset="2"/>
              </a:rPr>
              <a:t>)</a:t>
            </a:r>
            <a:endParaRPr lang="de-DE" sz="2400" dirty="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ADC92738-D08A-A643-BE75-7888E8BB4384}"/>
              </a:ext>
            </a:extLst>
          </p:cNvPr>
          <p:cNvSpPr txBox="1"/>
          <p:nvPr/>
        </p:nvSpPr>
        <p:spPr>
          <a:xfrm>
            <a:off x="416664" y="4503938"/>
            <a:ext cx="709091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dirty="0"/>
              <a:t>Workflow</a:t>
            </a:r>
          </a:p>
          <a:p>
            <a:pPr marL="457200" indent="-457200">
              <a:buAutoNum type="arabicPeriod"/>
            </a:pPr>
            <a:r>
              <a:rPr lang="de-DE" sz="2000" b="1" dirty="0"/>
              <a:t>Focus on a </a:t>
            </a:r>
            <a:r>
              <a:rPr lang="de-DE" sz="2000" b="1" dirty="0" err="1"/>
              <a:t>case</a:t>
            </a:r>
            <a:r>
              <a:rPr lang="de-DE" sz="2000" b="1" dirty="0"/>
              <a:t> </a:t>
            </a:r>
            <a:r>
              <a:rPr lang="de-DE" sz="2000" b="1" dirty="0" err="1"/>
              <a:t>study</a:t>
            </a:r>
            <a:r>
              <a:rPr lang="de-DE" sz="2000" b="1" dirty="0"/>
              <a:t> </a:t>
            </a:r>
            <a:r>
              <a:rPr lang="de-DE" sz="2000" b="1" dirty="0" err="1"/>
              <a:t>with</a:t>
            </a:r>
            <a:r>
              <a:rPr lang="de-DE" sz="2000" b="1" dirty="0"/>
              <a:t> smoke </a:t>
            </a:r>
            <a:r>
              <a:rPr lang="de-DE" sz="2000" b="1" dirty="0" err="1"/>
              <a:t>emissions</a:t>
            </a:r>
            <a:r>
              <a:rPr lang="de-DE" sz="2000" b="1" dirty="0"/>
              <a:t> </a:t>
            </a:r>
          </a:p>
          <a:p>
            <a:pPr marL="457200" indent="-457200">
              <a:buAutoNum type="arabicPeriod"/>
            </a:pPr>
            <a:r>
              <a:rPr lang="de-DE" sz="2000" b="1" dirty="0"/>
              <a:t>Investigation  </a:t>
            </a:r>
            <a:r>
              <a:rPr lang="de-DE" sz="2000" b="1" dirty="0" err="1"/>
              <a:t>of</a:t>
            </a:r>
            <a:r>
              <a:rPr lang="de-DE" sz="2000" b="1" dirty="0"/>
              <a:t> </a:t>
            </a:r>
            <a:r>
              <a:rPr lang="de-DE" sz="2000" b="1" dirty="0" err="1"/>
              <a:t>cloud</a:t>
            </a:r>
            <a:r>
              <a:rPr lang="de-DE" sz="2000" b="1" dirty="0"/>
              <a:t> </a:t>
            </a:r>
            <a:r>
              <a:rPr lang="de-DE" sz="2000" b="1" dirty="0" err="1"/>
              <a:t>properties</a:t>
            </a:r>
            <a:endParaRPr lang="de-DE" sz="2000" b="1" dirty="0"/>
          </a:p>
          <a:p>
            <a:pPr marL="457200" indent="-457200">
              <a:buAutoNum type="arabicPeriod"/>
            </a:pPr>
            <a:r>
              <a:rPr lang="de-DE" sz="2000" b="1" dirty="0"/>
              <a:t>Extension </a:t>
            </a:r>
            <a:r>
              <a:rPr lang="de-DE" sz="2000" b="1" dirty="0" err="1"/>
              <a:t>of</a:t>
            </a:r>
            <a:r>
              <a:rPr lang="de-DE" sz="2000" b="1" dirty="0"/>
              <a:t> </a:t>
            </a:r>
            <a:r>
              <a:rPr lang="de-DE" sz="2000" b="1" dirty="0" err="1"/>
              <a:t>analysis</a:t>
            </a:r>
            <a:r>
              <a:rPr lang="de-DE" sz="2000" b="1" dirty="0"/>
              <a:t> </a:t>
            </a:r>
            <a:r>
              <a:rPr lang="de-DE" sz="2000" b="1" dirty="0" err="1"/>
              <a:t>to</a:t>
            </a:r>
            <a:r>
              <a:rPr lang="de-DE" sz="2000" b="1" dirty="0"/>
              <a:t> </a:t>
            </a:r>
            <a:r>
              <a:rPr lang="de-DE" sz="2000" b="1" dirty="0" err="1"/>
              <a:t>other</a:t>
            </a:r>
            <a:r>
              <a:rPr lang="de-DE" sz="2000" b="1" dirty="0"/>
              <a:t> </a:t>
            </a:r>
            <a:r>
              <a:rPr lang="de-DE" sz="2000" b="1" dirty="0" err="1"/>
              <a:t>regions</a:t>
            </a:r>
            <a:endParaRPr lang="de-DE" sz="2000" b="1" dirty="0"/>
          </a:p>
          <a:p>
            <a:pPr marL="457200" indent="-457200">
              <a:buAutoNum type="arabicPeriod"/>
            </a:pPr>
            <a:r>
              <a:rPr lang="de-DE" sz="2000" b="1" dirty="0" err="1"/>
              <a:t>Inclusion</a:t>
            </a:r>
            <a:r>
              <a:rPr lang="de-DE" sz="2000" b="1" dirty="0"/>
              <a:t> </a:t>
            </a:r>
            <a:r>
              <a:rPr lang="de-DE" sz="2000" b="1" dirty="0" err="1"/>
              <a:t>of</a:t>
            </a:r>
            <a:r>
              <a:rPr lang="de-DE" sz="2000" b="1" dirty="0"/>
              <a:t> </a:t>
            </a:r>
            <a:r>
              <a:rPr lang="de-DE" sz="2000" b="1" dirty="0" err="1"/>
              <a:t>other</a:t>
            </a:r>
            <a:r>
              <a:rPr lang="de-DE" sz="2000" b="1" dirty="0"/>
              <a:t> </a:t>
            </a:r>
            <a:r>
              <a:rPr lang="de-DE" sz="2000" b="1" dirty="0" err="1"/>
              <a:t>aerosol</a:t>
            </a:r>
            <a:r>
              <a:rPr lang="de-DE" sz="2000" b="1" dirty="0"/>
              <a:t> </a:t>
            </a:r>
            <a:r>
              <a:rPr lang="de-DE" sz="2000" b="1" dirty="0" err="1"/>
              <a:t>types</a:t>
            </a:r>
            <a:endParaRPr lang="de-DE" sz="2000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C3E27E6F-05FF-38D0-5E2D-21B15C3DECBB}"/>
              </a:ext>
            </a:extLst>
          </p:cNvPr>
          <p:cNvSpPr txBox="1"/>
          <p:nvPr/>
        </p:nvSpPr>
        <p:spPr>
          <a:xfrm>
            <a:off x="2701349" y="3347556"/>
            <a:ext cx="15514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chemeClr val="bg1">
                    <a:lumMod val="50000"/>
                  </a:schemeClr>
                </a:solidFill>
              </a:rPr>
              <a:t>(Toll et al., 2019)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0FA07919-876A-FA3D-2347-D22CEA2FB913}"/>
              </a:ext>
            </a:extLst>
          </p:cNvPr>
          <p:cNvSpPr txBox="1"/>
          <p:nvPr/>
        </p:nvSpPr>
        <p:spPr>
          <a:xfrm>
            <a:off x="10367357" y="6550223"/>
            <a:ext cx="15514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chemeClr val="bg1">
                    <a:lumMod val="50000"/>
                  </a:schemeClr>
                </a:solidFill>
              </a:rPr>
              <a:t>(Toll et al., 2019)</a:t>
            </a:r>
          </a:p>
        </p:txBody>
      </p:sp>
    </p:spTree>
    <p:extLst>
      <p:ext uri="{BB962C8B-B14F-4D97-AF65-F5344CB8AC3E}">
        <p14:creationId xmlns:p14="http://schemas.microsoft.com/office/powerpoint/2010/main" val="27490895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</Words>
  <Application>Microsoft Office PowerPoint</Application>
  <PresentationFormat>Breitbild</PresentationFormat>
  <Paragraphs>16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Wingdings</vt:lpstr>
      <vt:lpstr>Office</vt:lpstr>
      <vt:lpstr>Aerosol Cloud Interactions</vt:lpstr>
      <vt:lpstr>Driving hypothesis  „Aerosols can change properties of low-level clouds“</vt:lpstr>
    </vt:vector>
  </TitlesOfParts>
  <Company>DLR e.V.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Krüger, Konstantin</dc:creator>
  <cp:lastModifiedBy>Krüger, Konstantin</cp:lastModifiedBy>
  <cp:revision>1</cp:revision>
  <dcterms:created xsi:type="dcterms:W3CDTF">2026-04-20T14:15:49Z</dcterms:created>
  <dcterms:modified xsi:type="dcterms:W3CDTF">2026-04-20T14:16:31Z</dcterms:modified>
</cp:coreProperties>
</file>